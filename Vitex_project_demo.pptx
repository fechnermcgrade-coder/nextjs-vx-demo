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6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tags" Target="../tags/tag16.xml"/><Relationship Id="rId5" Type="http://schemas.openxmlformats.org/officeDocument/2006/relationships/tags" Target="../tags/tag17.xml"/><Relationship Id="rId6" Type="http://schemas.openxmlformats.org/officeDocument/2006/relationships/tags" Target="../tags/tag18.xml"/><Relationship Id="rId7" Type="http://schemas.openxmlformats.org/officeDocument/2006/relationships/tags" Target="../tags/tag19.xml"/><Relationship Id="rId8" Type="http://schemas.openxmlformats.org/officeDocument/2006/relationships/tags" Target="../tags/tag20.xml"/><Relationship Id="rId9" Type="http://schemas.openxmlformats.org/officeDocument/2006/relationships/tags" Target="../tags/tag21.xml"/><Relationship Id="rId10" Type="http://schemas.openxmlformats.org/officeDocument/2006/relationships/tags" Target="../tags/tag22.xml"/><Relationship Id="rId11" Type="http://schemas.openxmlformats.org/officeDocument/2006/relationships/tags" Target="../tags/tag23.xml"/><Relationship Id="rId12" Type="http://schemas.openxmlformats.org/officeDocument/2006/relationships/tags" Target="../tags/tag24.xml"/><Relationship Id="rId13" Type="http://schemas.openxmlformats.org/officeDocument/2006/relationships/image" Target="../media/image1.png"/><Relationship Id="rId14" Type="http://schemas.openxmlformats.org/officeDocument/2006/relationships/image" Target="../media/image3.png"/><Relationship Id="rId15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tags" Target="../tags/tag26.xml"/><Relationship Id="rId3" Type="http://schemas.openxmlformats.org/officeDocument/2006/relationships/tags" Target="../tags/tag27.xml"/><Relationship Id="rId4" Type="http://schemas.openxmlformats.org/officeDocument/2006/relationships/tags" Target="../tags/tag28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tags" Target="../tags/tag31.xml"/><Relationship Id="rId8" Type="http://schemas.openxmlformats.org/officeDocument/2006/relationships/tags" Target="../tags/tag32.xml"/><Relationship Id="rId9" Type="http://schemas.openxmlformats.org/officeDocument/2006/relationships/tags" Target="../tags/tag33.xml"/><Relationship Id="rId10" Type="http://schemas.openxmlformats.org/officeDocument/2006/relationships/tags" Target="../tags/tag34.xml"/><Relationship Id="rId11" Type="http://schemas.openxmlformats.org/officeDocument/2006/relationships/tags" Target="../tags/tag35.xml"/><Relationship Id="rId12" Type="http://schemas.openxmlformats.org/officeDocument/2006/relationships/tags" Target="../tags/tag36.xml"/><Relationship Id="rId13" Type="http://schemas.openxmlformats.org/officeDocument/2006/relationships/tags" Target="../tags/tag37.xml"/><Relationship Id="rId14" Type="http://schemas.openxmlformats.org/officeDocument/2006/relationships/tags" Target="../tags/tag38.xml"/><Relationship Id="rId15" Type="http://schemas.openxmlformats.org/officeDocument/2006/relationships/tags" Target="../tags/tag39.xml"/><Relationship Id="rId16" Type="http://schemas.openxmlformats.org/officeDocument/2006/relationships/tags" Target="../tags/tag40.xml"/><Relationship Id="rId17" Type="http://schemas.openxmlformats.org/officeDocument/2006/relationships/tags" Target="../tags/tag41.xml"/><Relationship Id="rId18" Type="http://schemas.openxmlformats.org/officeDocument/2006/relationships/tags" Target="../tags/tag42.xml"/><Relationship Id="rId19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tags" Target="../tags/tag48.xml"/><Relationship Id="rId7" Type="http://schemas.openxmlformats.org/officeDocument/2006/relationships/tags" Target="../tags/tag49.xml"/><Relationship Id="rId8" Type="http://schemas.openxmlformats.org/officeDocument/2006/relationships/tags" Target="../tags/tag50.xml"/><Relationship Id="rId9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微软雅黑" panose="020B0503020204020204" charset="-122"/>
              </a:rPr>
              <a:t>Vitex 微信小程序社区项目</a:t>
            </a:r>
            <a:endParaRPr sz="34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199339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F5D62"/>
                </a:solidFill>
                <a:latin typeface="微软雅黑" panose="020B0503020204020204" charset="-122"/>
              </a:rPr>
              <a:t>项目设计与实现演示</a:t>
            </a:r>
            <a:endParaRPr sz="22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9808" y="2926080"/>
            <a:ext cx="42976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313639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 panose="020B0503020204020204" charset="-122"/>
              </a:rPr>
              <a:t>班级：25软工专升本4班</a:t>
            </a:r>
            <a:endParaRPr sz="15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346557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 panose="020B0503020204020204" charset="-122"/>
              </a:rPr>
              <a:t>学号：25215150419</a:t>
            </a:r>
            <a:endParaRPr sz="15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7552" y="37947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微软雅黑" panose="020B0503020204020204" charset="-122"/>
              </a:rPr>
              <a:t>姓名：李家进</a:t>
            </a:r>
            <a:endParaRPr sz="15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543800" y="374015"/>
            <a:ext cx="3142615" cy="59512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小程序_首页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8490" y="513080"/>
            <a:ext cx="1753870" cy="362013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42225" y="4339590"/>
            <a:ext cx="2946400" cy="17487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后台_工作台总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488" y="4427092"/>
            <a:ext cx="2365873" cy="157276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目录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项目简介、架构、模块实现、关键代码、亮点和总结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02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731520" y="14173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005840" y="170992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2F5D62"/>
                </a:solidFill>
                <a:latin typeface="微软雅黑" panose="020B0503020204020204" charset="-122"/>
              </a:rPr>
              <a:t>01 项目简介</a:t>
            </a:r>
            <a:endParaRPr sz="19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005840" y="21945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微软雅黑" panose="020B0503020204020204" charset="-122"/>
              </a:rPr>
              <a:t>社区内容发布、审核、互动与 AI 能力</a:t>
            </a:r>
            <a:endParaRPr sz="12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4"/>
            </p:custDataLst>
          </p:nvPr>
        </p:nvSpPr>
        <p:spPr>
          <a:xfrm>
            <a:off x="6309359" y="14173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583679" y="170992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2F5D62"/>
                </a:solidFill>
                <a:latin typeface="微软雅黑" panose="020B0503020204020204" charset="-122"/>
              </a:rPr>
              <a:t>02 架构与数据流</a:t>
            </a:r>
            <a:endParaRPr sz="19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6583679" y="21945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微软雅黑" panose="020B0503020204020204" charset="-122"/>
              </a:rPr>
              <a:t>微信小程序 + Next.js API + Supabase</a:t>
            </a:r>
            <a:endParaRPr sz="12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731520" y="333756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1005840" y="3630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2F5D62"/>
                </a:solidFill>
                <a:latin typeface="微软雅黑" panose="020B0503020204020204" charset="-122"/>
              </a:rPr>
              <a:t>03 功能模块实现</a:t>
            </a:r>
            <a:endParaRPr sz="19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1005840" y="4114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微软雅黑" panose="020B0503020204020204" charset="-122"/>
              </a:rPr>
              <a:t>首页、登录、发布、个人中心、消息、后台</a:t>
            </a:r>
            <a:endParaRPr sz="12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0"/>
            </p:custDataLst>
          </p:nvPr>
        </p:nvSpPr>
        <p:spPr>
          <a:xfrm>
            <a:off x="6309359" y="333756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6583679" y="3630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2F5D62"/>
                </a:solidFill>
                <a:latin typeface="微软雅黑" panose="020B0503020204020204" charset="-122"/>
              </a:rPr>
              <a:t>04 亮点与总结</a:t>
            </a:r>
            <a:endParaRPr sz="19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6583679" y="4114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微软雅黑" panose="020B0503020204020204" charset="-122"/>
              </a:rPr>
              <a:t>用户隔离、RAG、审核流、安全边界</a:t>
            </a:r>
            <a:endParaRPr sz="12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小程序项目简介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围绕文章发布、审核、互动和 AI 辅助的社区型小程序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03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685800" y="1234440"/>
            <a:ext cx="2331720" cy="1078992"/>
          </a:xfrm>
          <a:prstGeom prst="roundRect">
            <a:avLst/>
          </a:prstGeom>
          <a:solidFill>
            <a:srgbClr val="EEF4F3"/>
          </a:solidFill>
          <a:ln w="12700">
            <a:solidFill>
              <a:srgbClr val="EE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850392" y="138074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65748B"/>
                </a:solidFill>
                <a:latin typeface="微软雅黑" panose="020B0503020204020204" charset="-122"/>
              </a:rPr>
              <a:t>用户角色</a:t>
            </a:r>
            <a:endParaRPr sz="1100" b="1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850392" y="1691640"/>
            <a:ext cx="201168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>
                <a:solidFill>
                  <a:srgbClr val="1F2937"/>
                </a:solidFill>
                <a:latin typeface="微软雅黑" panose="020B0503020204020204" charset="-122"/>
              </a:rPr>
              <a:t>普通用户 / 管理员</a:t>
            </a:r>
            <a:endParaRPr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4"/>
            </p:custDataLst>
          </p:nvPr>
        </p:nvSpPr>
        <p:spPr>
          <a:xfrm>
            <a:off x="3291840" y="1234440"/>
            <a:ext cx="2331720" cy="1078992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3456432" y="138074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65748B"/>
                </a:solidFill>
                <a:latin typeface="微软雅黑" panose="020B0503020204020204" charset="-122"/>
              </a:rPr>
              <a:t>核心内容</a:t>
            </a:r>
            <a:endParaRPr sz="1100" b="1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3456432" y="1691640"/>
            <a:ext cx="201168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>
                <a:solidFill>
                  <a:srgbClr val="1F2937"/>
                </a:solidFill>
                <a:latin typeface="微软雅黑" panose="020B0503020204020204" charset="-122"/>
              </a:rPr>
              <a:t>文章 + 评论 + 私信</a:t>
            </a:r>
            <a:endParaRPr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5897880" y="1234440"/>
            <a:ext cx="2331720" cy="10789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EE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6062472" y="138074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65748B"/>
                </a:solidFill>
                <a:latin typeface="微软雅黑" panose="020B0503020204020204" charset="-122"/>
              </a:rPr>
              <a:t>数据存储</a:t>
            </a:r>
            <a:endParaRPr sz="1100" b="1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6062472" y="1691640"/>
            <a:ext cx="201168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>
                <a:solidFill>
                  <a:srgbClr val="1F2937"/>
                </a:solidFill>
                <a:latin typeface="微软雅黑" panose="020B0503020204020204" charset="-122"/>
              </a:rPr>
              <a:t>Supabase PostgreSQL</a:t>
            </a:r>
            <a:endParaRPr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0"/>
            </p:custDataLst>
          </p:nvPr>
        </p:nvSpPr>
        <p:spPr>
          <a:xfrm>
            <a:off x="8503920" y="1234440"/>
            <a:ext cx="2331720" cy="1078992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FF1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8668512" y="138074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65748B"/>
                </a:solidFill>
                <a:latin typeface="微软雅黑" panose="020B0503020204020204" charset="-122"/>
              </a:rPr>
              <a:t>智能能力</a:t>
            </a:r>
            <a:endParaRPr sz="1100" b="1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8668512" y="1691640"/>
            <a:ext cx="201168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>
                <a:solidFill>
                  <a:srgbClr val="1F2937"/>
                </a:solidFill>
                <a:latin typeface="微软雅黑" panose="020B0503020204020204" charset="-122"/>
              </a:rPr>
              <a:t>AI 写作 / 审核 / RAG</a:t>
            </a:r>
            <a:endParaRPr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2788920"/>
            <a:ext cx="5577840" cy="201168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普通用户可浏览、发布草稿、提交审核、评论、收藏、查看历史和私信作者。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管理员负责审核待审文章、下架或删除违规内容、管理评论和用户。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AI 能力覆盖写作、审核建议、文章推荐和数据库检索增强问答。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73570" y="2514600"/>
            <a:ext cx="2160905" cy="34016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小程序_首页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4491" y="2514600"/>
            <a:ext cx="1648586" cy="340156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368790" y="2514600"/>
            <a:ext cx="2134235" cy="34016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小程序_个人中心页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16168" y="2514600"/>
            <a:ext cx="1639097" cy="340156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系统总体架构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前端负责交互，Next.js 承担 API、鉴权、AI 与后台管理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04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37560" cy="2882265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微软雅黑" panose="020B0503020204020204" charset="-122"/>
              </a:rPr>
              <a:t>微信小程序 qt</a:t>
            </a:r>
            <a:endParaRPr sz="1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2743200" cy="155448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页面交互与状态展示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wx.request 调用后端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token 登录态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337560" cy="2882265"/>
          </a:xfrm>
          <a:prstGeom prst="roundRect">
            <a:avLst/>
          </a:prstGeom>
          <a:solidFill>
            <a:srgbClr val="EEF4F3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0078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微软雅黑" panose="020B0503020204020204" charset="-122"/>
              </a:rPr>
              <a:t>Next.js ht</a:t>
            </a:r>
            <a:endParaRPr sz="1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46320" y="2240280"/>
            <a:ext cx="2743200" cy="155448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App Router API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管理员工作台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AI Provider / RAG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337560" cy="2882265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70078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微软雅黑" panose="020B0503020204020204" charset="-122"/>
              </a:rPr>
              <a:t>Supabase 数据库</a:t>
            </a:r>
            <a:endParaRPr sz="1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41080" y="2240280"/>
            <a:ext cx="2743200" cy="155448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users / posts / comments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favorites / history / messages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notifications / ai_reviews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7690" y="4594860"/>
            <a:ext cx="240487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5337" y="4901184"/>
            <a:ext cx="18562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 panose="020B0503020204020204" charset="-122"/>
              </a:rPr>
              <a:t>登录</a:t>
            </a:r>
            <a:endParaRPr sz="12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" y="5231130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0" b="0">
                <a:solidFill>
                  <a:srgbClr val="65748B"/>
                </a:solidFill>
                <a:latin typeface="微软雅黑" panose="020B0503020204020204" charset="-122"/>
              </a:rPr>
              <a:t>获取 JWT token</a:t>
            </a:r>
            <a:endParaRPr sz="92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69590" y="5047615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F5D62"/>
                </a:solidFill>
                <a:latin typeface="微软雅黑" panose="020B0503020204020204" charset="-122"/>
              </a:rPr>
              <a:t>→</a:t>
            </a:r>
            <a:endParaRPr sz="15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402076" y="4622800"/>
            <a:ext cx="240487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5593" y="4880864"/>
            <a:ext cx="18562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 panose="020B0503020204020204" charset="-122"/>
              </a:rPr>
              <a:t>请求</a:t>
            </a:r>
            <a:endParaRPr sz="12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61181" y="5231130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0" b="0">
                <a:solidFill>
                  <a:srgbClr val="65748B"/>
                </a:solidFill>
                <a:latin typeface="微软雅黑" panose="020B0503020204020204" charset="-122"/>
              </a:rPr>
              <a:t>附带 Authorization</a:t>
            </a:r>
            <a:endParaRPr sz="92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39536" y="5047615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F5D62"/>
                </a:solidFill>
                <a:latin typeface="微软雅黑" panose="020B0503020204020204" charset="-122"/>
              </a:rPr>
              <a:t>→</a:t>
            </a:r>
            <a:endParaRPr sz="15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50432" y="4645025"/>
            <a:ext cx="240487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5364" y="4901184"/>
            <a:ext cx="18562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 panose="020B0503020204020204" charset="-122"/>
              </a:rPr>
              <a:t>校验</a:t>
            </a:r>
            <a:endParaRPr sz="12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20002" y="5231130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0" b="0">
                <a:solidFill>
                  <a:srgbClr val="65748B"/>
                </a:solidFill>
                <a:latin typeface="微软雅黑" panose="020B0503020204020204" charset="-122"/>
              </a:rPr>
              <a:t>解析当前用户</a:t>
            </a:r>
            <a:endParaRPr sz="92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841867" y="5067935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F5D62"/>
                </a:solidFill>
                <a:latin typeface="微软雅黑" panose="020B0503020204020204" charset="-122"/>
              </a:rPr>
              <a:t>→</a:t>
            </a:r>
            <a:endParaRPr sz="15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193403" y="4645025"/>
            <a:ext cx="240487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4901184"/>
            <a:ext cx="18562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 panose="020B0503020204020204" charset="-122"/>
              </a:rPr>
              <a:t>落库</a:t>
            </a:r>
            <a:endParaRPr sz="12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92513" y="5231130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0" b="0">
                <a:solidFill>
                  <a:srgbClr val="65748B"/>
                </a:solidFill>
                <a:latin typeface="微软雅黑" panose="020B0503020204020204" charset="-122"/>
              </a:rPr>
              <a:t>写入云端数据表</a:t>
            </a:r>
            <a:endParaRPr sz="92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业务流转设计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草稿不投递后台，提交审核后才进入管理员处理范围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05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9420" y="1266190"/>
            <a:ext cx="2413635" cy="107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5942" y="1517904"/>
            <a:ext cx="20391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 panose="020B0503020204020204" charset="-122"/>
              </a:rPr>
              <a:t>保存草稿</a:t>
            </a:r>
            <a:endParaRPr sz="12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5970" y="1901825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0" b="0">
                <a:solidFill>
                  <a:srgbClr val="65748B"/>
                </a:solidFill>
                <a:latin typeface="微软雅黑" panose="020B0503020204020204" charset="-122"/>
              </a:rPr>
              <a:t>状态 draft，仅用户可见</a:t>
            </a:r>
            <a:endParaRPr sz="92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99105" y="170053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F5D62"/>
                </a:solidFill>
                <a:latin typeface="微软雅黑" panose="020B0503020204020204" charset="-122"/>
              </a:rPr>
              <a:t>→</a:t>
            </a:r>
            <a:endParaRPr sz="15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340215" y="1266190"/>
            <a:ext cx="2413635" cy="107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1441" y="168275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F5D62"/>
                </a:solidFill>
                <a:latin typeface="微软雅黑" panose="020B0503020204020204" charset="-122"/>
              </a:rPr>
              <a:t>→</a:t>
            </a:r>
            <a:endParaRPr sz="15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24600" y="1266190"/>
            <a:ext cx="2414270" cy="107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6319" y="1517904"/>
            <a:ext cx="20391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 panose="020B0503020204020204" charset="-122"/>
              </a:rPr>
              <a:t>管理员审核</a:t>
            </a:r>
            <a:endParaRPr sz="12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2857" y="1901825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0" b="0">
                <a:solidFill>
                  <a:srgbClr val="65748B"/>
                </a:solidFill>
                <a:latin typeface="微软雅黑" panose="020B0503020204020204" charset="-122"/>
              </a:rPr>
              <a:t>通过、拒绝、AI 建议</a:t>
            </a:r>
            <a:endParaRPr sz="92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57437" y="168275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F5D62"/>
                </a:solidFill>
                <a:latin typeface="微软雅黑" panose="020B0503020204020204" charset="-122"/>
              </a:rPr>
              <a:t>→</a:t>
            </a:r>
            <a:endParaRPr sz="15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18840" y="1266190"/>
            <a:ext cx="2395855" cy="107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9615" y="1517904"/>
            <a:ext cx="20391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 panose="020B0503020204020204" charset="-122"/>
              </a:rPr>
              <a:t>发布/退回</a:t>
            </a:r>
            <a:endParaRPr sz="12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89643" y="1901825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0" b="0">
                <a:solidFill>
                  <a:srgbClr val="65748B"/>
                </a:solidFill>
                <a:latin typeface="微软雅黑" panose="020B0503020204020204" charset="-122"/>
              </a:rPr>
              <a:t>published 或回草稿箱</a:t>
            </a:r>
            <a:endParaRPr sz="92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" y="3063240"/>
            <a:ext cx="5029200" cy="2148840"/>
          </a:xfrm>
          <a:prstGeom prst="roundRect">
            <a:avLst/>
          </a:prstGeom>
          <a:solidFill>
            <a:srgbClr val="EEF4F3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337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关键业务约束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78992" y="3749039"/>
            <a:ext cx="4480560" cy="114300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draft：只在用户草稿箱显示。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pending：等待管理员审核。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published：首页公开展示。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rejected/takedown：退回草稿并显示原因。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24783" y="1517904"/>
            <a:ext cx="20391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 panose="020B0503020204020204" charset="-122"/>
              </a:rPr>
              <a:t>提交审核</a:t>
            </a:r>
            <a:endParaRPr sz="12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95446" y="1901825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0" b="0">
                <a:solidFill>
                  <a:srgbClr val="65748B"/>
                </a:solidFill>
                <a:latin typeface="微软雅黑" panose="020B0503020204020204" charset="-122"/>
              </a:rPr>
              <a:t>状态 pending，进入后台</a:t>
            </a:r>
            <a:endParaRPr sz="92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12"/>
          <p:cNvSpPr/>
          <p:nvPr/>
        </p:nvSpPr>
        <p:spPr>
          <a:xfrm>
            <a:off x="6324600" y="3062605"/>
            <a:ext cx="4481195" cy="2197735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337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通知闭环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75120" y="3749039"/>
            <a:ext cx="3886200" cy="114300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审核通过：通知作者已发布。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审核拒绝：通知修改原因。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文章下架：通知待整改。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私信和通知都按用户隔离。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小程序功能模块总览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以用户内容生命周期为中心组织功能模块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06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640080" y="1325880"/>
            <a:ext cx="3383280" cy="13258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868680" y="1600200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 panose="020B0503020204020204" charset="-122"/>
              </a:rPr>
              <a:t>首页文章流</a:t>
            </a:r>
            <a:endParaRPr sz="16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868680" y="207568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微软雅黑" panose="020B0503020204020204" charset="-122"/>
              </a:rPr>
              <a:t>浏览、搜索、热门排序</a:t>
            </a:r>
            <a:endParaRPr sz="12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4"/>
            </p:custDataLst>
          </p:nvPr>
        </p:nvSpPr>
        <p:spPr>
          <a:xfrm>
            <a:off x="4480560" y="1325880"/>
            <a:ext cx="3383280" cy="1325880"/>
          </a:xfrm>
          <a:prstGeom prst="roundRect">
            <a:avLst/>
          </a:prstGeom>
          <a:solidFill>
            <a:srgbClr val="EEF4F3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4709160" y="1600200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 panose="020B0503020204020204" charset="-122"/>
              </a:rPr>
              <a:t>登录注册</a:t>
            </a:r>
            <a:endParaRPr sz="16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4709160" y="207568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微软雅黑" panose="020B0503020204020204" charset="-122"/>
              </a:rPr>
              <a:t>邮箱账号体系、路由守卫</a:t>
            </a:r>
            <a:endParaRPr sz="12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8321040" y="1325880"/>
            <a:ext cx="3383280" cy="132588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8549640" y="1600200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 panose="020B0503020204020204" charset="-122"/>
              </a:rPr>
              <a:t>发布与编辑</a:t>
            </a:r>
            <a:endParaRPr sz="16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8549640" y="207568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微软雅黑" panose="020B0503020204020204" charset="-122"/>
              </a:rPr>
              <a:t>草稿、封面上传、提交审核</a:t>
            </a:r>
            <a:endParaRPr sz="12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0"/>
            </p:custDataLst>
          </p:nvPr>
        </p:nvSpPr>
        <p:spPr>
          <a:xfrm>
            <a:off x="640080" y="3200400"/>
            <a:ext cx="3383280" cy="1325880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868680" y="3474720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 panose="020B0503020204020204" charset="-122"/>
              </a:rPr>
              <a:t>个人中心</a:t>
            </a:r>
            <a:endParaRPr sz="16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868680" y="39502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微软雅黑" panose="020B0503020204020204" charset="-122"/>
              </a:rPr>
              <a:t>文章、草稿、收藏、历史</a:t>
            </a:r>
            <a:endParaRPr sz="12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13"/>
            </p:custDataLst>
          </p:nvPr>
        </p:nvSpPr>
        <p:spPr>
          <a:xfrm>
            <a:off x="4480560" y="3200400"/>
            <a:ext cx="3383280" cy="1325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highlight>
                <a:srgbClr val="808000"/>
              </a:highlight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4709160" y="3474720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 panose="020B0503020204020204" charset="-122"/>
              </a:rPr>
              <a:t>消息通知</a:t>
            </a:r>
            <a:endParaRPr sz="16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4709160" y="39502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微软雅黑" panose="020B0503020204020204" charset="-122"/>
              </a:rPr>
              <a:t>私信作者、审核通知</a:t>
            </a:r>
            <a:endParaRPr sz="12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16"/>
            </p:custDataLst>
          </p:nvPr>
        </p:nvSpPr>
        <p:spPr>
          <a:xfrm>
            <a:off x="8321040" y="3200400"/>
            <a:ext cx="3383280" cy="13258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7"/>
            </p:custDataLst>
          </p:nvPr>
        </p:nvSpPr>
        <p:spPr>
          <a:xfrm>
            <a:off x="8549640" y="3474720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 panose="020B0503020204020204" charset="-122"/>
              </a:rPr>
              <a:t>AI 与后台</a:t>
            </a:r>
            <a:endParaRPr sz="16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8549640" y="39502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微软雅黑" panose="020B0503020204020204" charset="-122"/>
              </a:rPr>
              <a:t>RAG 对话、AI 审核、管理操作</a:t>
            </a:r>
            <a:endParaRPr sz="12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5559552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2F5D62"/>
                </a:solidFill>
                <a:latin typeface="微软雅黑" panose="020B0503020204020204" charset="-122"/>
              </a:rPr>
              <a:t>目标：让用户侧内容创作、互动和消息流转完整闭环，同时让管理员侧具备安全可控的内容治理能力。</a:t>
            </a:r>
            <a:endParaRPr sz="15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首页文章流模块实现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首页负责公开内容入口，支持搜索和热门内容浏览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07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788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小程序_首页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65" y="1403350"/>
            <a:ext cx="2251710" cy="46456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69080" y="1325880"/>
            <a:ext cx="7040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162763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效果图说明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70832" y="2057400"/>
            <a:ext cx="6217920" cy="16459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顶部社区品牌卡片形成项目第一视觉。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文章卡片展示标题、摘要、作者、分类与互动数据。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搜索和排序帮助用户快速找到内容。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详情页访问会记录浏览历史。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434340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业务价值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70832" y="4727448"/>
            <a:ext cx="6217920" cy="7315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只展示 published 文章，避免草稿或待审内容泄露。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热度排序与后台分析逻辑保持一致。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登录注册模块实现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邮箱账号体系支持普通用户，后台只允许管理员进入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09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788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小程序_登录页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775" y="1421130"/>
            <a:ext cx="2193290" cy="46107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69080" y="1325880"/>
            <a:ext cx="7040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162763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效果图说明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70832" y="2057400"/>
            <a:ext cx="6217920" cy="16459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普通用户可注册/登录，登录后才能发布、收藏、评论和私信。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后台登录表单默认空，只允许管理员进入。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用户名与昵称统一，支持中文用户名。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434340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业务价值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70832" y="4727448"/>
            <a:ext cx="6217920" cy="7315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token 保存在本地 storage，请求时自动附带。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退出登录会清理用户私有缓存。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发布与编辑模块实现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发布页只负责新建文章，编辑页负责修改已有草稿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11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788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小程序_发布页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580" y="1427480"/>
            <a:ext cx="2265045" cy="45980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69080" y="1325880"/>
            <a:ext cx="7040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162763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效果图说明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70832" y="2057400"/>
            <a:ext cx="6217920" cy="16459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支持标题、正文、封面图片上传和预览。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保存草稿不投递后台，提交审核后才进入 pending。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发布页进入时重置空表单，避免渲染旧编辑内容。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434340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业务价值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70832" y="4727448"/>
            <a:ext cx="6217920" cy="7315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新建走 POST /api/posts。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编辑走 PUT /api/posts/[id]。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个人中心模块实现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个人中心承载文章、草稿、审核中、收藏和浏览历史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13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788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小程序_个人中心页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410" y="1450975"/>
            <a:ext cx="2192020" cy="45497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69080" y="1325880"/>
            <a:ext cx="7040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162763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效果图说明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70832" y="2057400"/>
            <a:ext cx="6217920" cy="16459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管理面板提供我的文章、草稿箱、审核中入口。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包含我的收藏、浏览历史，并支持清空历史。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草稿卡片展示审核不通过或下架待整改标签。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434340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业务价值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70832" y="4727448"/>
            <a:ext cx="6217920" cy="7315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收藏和历史按当前用户 session scope 缓存。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退出或切换用户后不沿用上一个用户数据。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消息与通知模块实现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消息页同时承载私信列表和普通用户 AI 助手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15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7889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小程序_消息页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220" y="1430655"/>
            <a:ext cx="2183765" cy="45910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69080" y="1325880"/>
            <a:ext cx="7040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162763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效果图说明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70832" y="2057400"/>
            <a:ext cx="6217920" cy="16459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消息列表展示会话线程，游客状态显示登录提示卡片。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点击作者会话进入同一个 peerId 对话。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聊天内容数据库持久化，退出重登后不丢失。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434340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业务价值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70832" y="4727448"/>
            <a:ext cx="6217920" cy="7315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审核通过、拒绝、下架会创建通知。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小程序 AI 只能读取普通用户可见 RAG。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首页模块关键代码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请求封装统一后，页面只关心数据加载和渲染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08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8064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29689"/>
            <a:ext cx="54041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F5D62"/>
                </a:solidFill>
                <a:latin typeface="微软雅黑" panose="020B0503020204020204" charset="-122"/>
              </a:rPr>
              <a:t>qt/utils/request.js</a:t>
            </a:r>
            <a:endParaRPr sz="12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284095"/>
            <a:ext cx="5349240" cy="32626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function request(options) {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const token = wx.getStorageSync('token')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const headers = Object.assign({}, options.header || {})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if (token) headers.Authorization = `Bearer ${token}`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return new Promise((resolve, reject) =&gt; {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wx.request({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url: `${API_BASE_URL}${options.url}`,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method: options.method || 'GET',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data: options.data || {},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header: Object.assign({ 'Content-Type': 'application/json' }, headers),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success(res) {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  const body = res.data || {}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  if (res.statusCode &gt;= 200 &amp;&amp; res.statusCode &lt; 300 &amp;&amp; body.success !== false) r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  else reject(new Error(body.message || '请求失败'))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}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})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})</a:t>
            </a:r>
          </a:p>
          <a:p>
            <a:pPr algn="l"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188720"/>
            <a:ext cx="4389120" cy="4983480"/>
          </a:xfrm>
          <a:prstGeom prst="roundRect">
            <a:avLst/>
          </a:prstGeom>
          <a:solidFill>
            <a:srgbClr val="EEF4F3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508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代码说明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78040" y="1965960"/>
            <a:ext cx="3566160" cy="201168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统一拼接后端 API 地址，避免页面分散维护。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登录后自动添加 Authorization，后端解析当前用户。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401 自动退出登录，避免继续沿用过期身份。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登录与用户资料关键代码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用户名与昵称统一，后端校验支持中文用户名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10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8064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66214"/>
            <a:ext cx="54041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F5D62"/>
                </a:solidFill>
                <a:latin typeface="微软雅黑" panose="020B0503020204020204" charset="-122"/>
              </a:rPr>
              <a:t>users/me/profile + repository</a:t>
            </a:r>
            <a:endParaRPr sz="12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353310"/>
            <a:ext cx="5349240" cy="295656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const profileSchema = z.object({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username: z.string()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.trim()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.min(1, '用户名不能为空')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.max(32, '用户名最多 32 个字符')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.regex(/^[\p{L}\p{N}_-]+$/u, '用户名只能包含中文、字母、数字、_ 或 -'),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bio: z.string().max(200).optional(),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avatarUrl: z.string().optional()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})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return {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id: row.id,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email: row.email,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username: row.username,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nickname: row.username,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role: row.role,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status: row.status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188720"/>
            <a:ext cx="4389120" cy="4983480"/>
          </a:xfrm>
          <a:prstGeom prst="roundRect">
            <a:avLst/>
          </a:prstGeom>
          <a:solidFill>
            <a:srgbClr val="EEF4F3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508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代码说明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78040" y="1965960"/>
            <a:ext cx="3566160" cy="201168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Zod 校验避免非法用户名写入。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username 是真实展示名，nickname 仅保留兼容。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管理员和普通用户权限分离。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发布模块关键代码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发布页重置状态，避免 tabBar 页面实例复用导致脏数据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12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8064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9993" y="1966214"/>
            <a:ext cx="54041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F5D62"/>
                </a:solidFill>
                <a:latin typeface="微软雅黑" panose="020B0503020204020204" charset="-122"/>
              </a:rPr>
              <a:t>qt/pages/post/create/index.js</a:t>
            </a:r>
            <a:endParaRPr sz="12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418080"/>
            <a:ext cx="5349240" cy="30797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const emptyForm = { id: '', title: '', content: '', coverUrl: '', saving: false }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Page({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data: { needLogin: false, ...emptyForm },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resetForm() { this.setData({ ...emptyForm }) },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onShow() {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if (!wx.getStorageSync('token')) {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this.setData({ needLogin: true })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return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this.setData({ needLogin: false })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if (this.data.id) this.resetForm()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},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save(submit, payload) {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request({ url: '/api/posts', method: 'POST', data: { ...payload, submit } })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188720"/>
            <a:ext cx="4389120" cy="4983480"/>
          </a:xfrm>
          <a:prstGeom prst="roundRect">
            <a:avLst/>
          </a:prstGeom>
          <a:solidFill>
            <a:srgbClr val="EEF4F3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508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代码说明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78040" y="1965960"/>
            <a:ext cx="3566160" cy="201168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tabBar 页面会保留实例，进入发布页必须主动清空状态。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发布页只保留新建职责，编辑交给独立页面。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保存成功后再次清空，返回发布页仍是空表单。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个人中心关键代码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通过 session scope 隔离收藏、历史和个人数据缓存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14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8064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154"/>
            <a:ext cx="54041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F5D62"/>
                </a:solidFill>
                <a:latin typeface="微软雅黑" panose="020B0503020204020204" charset="-122"/>
              </a:rPr>
              <a:t>qt/utils/request.js + profile/index.js</a:t>
            </a:r>
            <a:endParaRPr sz="12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552700"/>
            <a:ext cx="5349240" cy="250253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function getSessionUserId() {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if (!wx.getStorageSync('token')) return ''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const user = wx.getStorageSync('user')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return user &amp;&amp; user.id ? user.id : ''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function getSessionScope() {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return getSessionUserId() || 'guest'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function scopedKey(scope, key) {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return `${scope || getSessionScope()}:${key}`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// 收藏、历史缓存使用 scopedKey；用户切换时重置私有状态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188720"/>
            <a:ext cx="4389120" cy="4983480"/>
          </a:xfrm>
          <a:prstGeom prst="roundRect">
            <a:avLst/>
          </a:prstGeom>
          <a:solidFill>
            <a:srgbClr val="EEF4F3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508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代码说明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78040" y="1965960"/>
            <a:ext cx="3566160" cy="201168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避免 A 用户退出后，B 用户仍看到 A 的收藏或历史。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旧请求返回不会覆盖新用户页面。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取消收藏失败时重新拉取当前用户收藏。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消息模块关键代码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通过 peerId 锁定会话，后端持久化消息记录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16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8064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383" y="2456434"/>
            <a:ext cx="540410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F5D62"/>
                </a:solidFill>
                <a:latin typeface="微软雅黑" panose="020B0503020204020204" charset="-122"/>
              </a:rPr>
              <a:t>post/detail.js + messages/chat.js</a:t>
            </a:r>
            <a:endParaRPr sz="12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881630"/>
            <a:ext cx="5349240" cy="18446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openAuthorChat() {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const post = this.data.post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if (!post || !post.authorId) return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wx.navigateTo({ url: `/pages/messages/chat?peerId=${post.authorId}` })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request({ url: `/api/messages?peerId=${peerId}` })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.then((data) =&gt; this.setData({ messages: data.messages || [] }))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request({ url: '/api/messages', method: 'POST', data: { peerId, content } 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188720"/>
            <a:ext cx="4389120" cy="4983480"/>
          </a:xfrm>
          <a:prstGeom prst="roundRect">
            <a:avLst/>
          </a:prstGeom>
          <a:solidFill>
            <a:srgbClr val="EEF4F3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508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代码说明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78040" y="1965960"/>
            <a:ext cx="3566160" cy="201168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会话由 peerId 唯一确定，反复点击进入同一会话。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GET 读取历史消息，POST 写入新消息。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后端根据当前用户和 peerId 做隔离。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30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后台管理模块实现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管理员工作台负责内容审核、用户治理和运营总览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17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75665" y="1143000"/>
            <a:ext cx="5841365" cy="34683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后台_工作台总览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840" y="1275715"/>
            <a:ext cx="4819015" cy="32035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045960" y="1143000"/>
            <a:ext cx="4155440" cy="24377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后台_登录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440" y="1401079"/>
            <a:ext cx="3840480" cy="1922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68680" y="4800600"/>
            <a:ext cx="10332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983480"/>
            <a:ext cx="9784080" cy="658368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后台登录仅允许管理员账号；登录后显示工作台和 AI 对话导航。</a:t>
            </a:r>
          </a:p>
          <a:p>
            <a:pPr>
              <a:spcAft>
                <a:spcPts val="100"/>
              </a:spcAft>
              <a:defRPr sz="125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工作台包含总览、审核、文章、评论、用户、分类和热度模块。</a:t>
            </a:r>
          </a:p>
          <a:p>
            <a:pPr>
              <a:spcAft>
                <a:spcPts val="100"/>
              </a:spcAft>
              <a:defRPr sz="125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危险操作需要确认弹窗，刷新数据使用页面中心加载卡片。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后台审核关键代码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管理员操作先确认，再由后端接口写入状态和通知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18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60807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28164"/>
            <a:ext cx="56784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F5D62"/>
                </a:solidFill>
                <a:latin typeface="微软雅黑" panose="020B0503020204020204" charset="-122"/>
              </a:rPr>
              <a:t>ht/src/app/admin/page.tsx</a:t>
            </a:r>
            <a:endParaRPr sz="12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687320"/>
            <a:ext cx="5623560" cy="22339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const updatePost = (post, status, reason, note) =&gt; {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const label = status === 'published'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? '通过并发布'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: reason === 'takedown' ? '下架并退回草稿箱' : '拒绝并退回草稿箱'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askConfirm(label, `确认${label}《${post.title}》吗？`, () =&gt;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runAction(`post-${post.id}-${status}`, async () =&gt; {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await fetch('/api/admin/posts', {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  method: 'PUT',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  headers: { ...headers, 'Content-Type': 'application/json' },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  body: JSON.stringify({ id: post.id, status, moderationReason: reason, moderati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  }).then(readJson)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  }, '文章状态已更新')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  )</a:t>
            </a:r>
          </a:p>
          <a:p>
            <a:pPr>
              <a:spcAft>
                <a:spcPts val="100"/>
              </a:spcAft>
              <a:defRPr sz="920">
                <a:solidFill>
                  <a:srgbClr val="1F2937"/>
                </a:solidFill>
                <a:latin typeface="Consolas" panose="020B0609020204030204"/>
              </a:defRPr>
            </a:pPr>
            <a: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9"/>
          <p:cNvSpPr/>
          <p:nvPr/>
        </p:nvSpPr>
        <p:spPr>
          <a:xfrm>
            <a:off x="7133590" y="1167130"/>
            <a:ext cx="4431665" cy="5055235"/>
          </a:xfrm>
          <a:prstGeom prst="roundRect">
            <a:avLst/>
          </a:prstGeom>
          <a:solidFill>
            <a:srgbClr val="EEF4F3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938528"/>
            <a:ext cx="3657600" cy="219456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通过：状态改为 published，首页公开展示。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拒绝：状态回到 draft，草稿箱显示审核不通过。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下架：已发布文章回到 draft，草稿箱显示下架待整改。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每一步都经过确认弹窗，避免管理员误触。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481328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审核逻辑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AI 对话与 RAG 能力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后台 AI 能检索实时数据库，小程序 AI 面向普通用户可见范围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19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后台_ai对话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068830"/>
            <a:ext cx="5570855" cy="26752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95160" y="1143000"/>
            <a:ext cx="4526280" cy="4526280"/>
          </a:xfrm>
          <a:prstGeom prst="roundRect">
            <a:avLst/>
          </a:prstGeom>
          <a:solidFill>
            <a:srgbClr val="EEF4F3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4630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AI 能力边界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69480" y="1920240"/>
            <a:ext cx="3749039" cy="192024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后台 AI：读取后台可见数据库上下文，回答运营问题。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小程序 AI：只读取公开文章和当前用户自己的内容。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AI 审核：识别恶意、违法、诈骗、骚扰等风险。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AI 没有最终操作权限，所有通过/拒绝仍由管理员确认。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8920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F5D62"/>
                </a:solidFill>
                <a:latin typeface="Consolas" panose="020B0609020204030204"/>
              </a:rPr>
              <a:t>heat = viewCount + favoriteCount × 5 + commentCount × 3</a:t>
            </a:r>
            <a:endParaRPr sz="1100" b="1">
              <a:solidFill>
                <a:srgbClr val="2F5D62"/>
              </a:solidFill>
              <a:latin typeface="Consolas" panose="020B0609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项目技术 / 业务亮点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从内容治理、用户隔离和智能能力三个方向体现项目特色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20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3429000" cy="141732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 panose="020B0503020204020204" charset="-122"/>
              </a:rPr>
              <a:t>用户隔离</a:t>
            </a:r>
            <a:endParaRPr sz="17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5748B"/>
                </a:solidFill>
                <a:latin typeface="微软雅黑" panose="020B0503020204020204" charset="-122"/>
              </a:rPr>
              <a:t>token、session scope、请求返回保护，避免缓存串号</a:t>
            </a:r>
            <a:endParaRPr sz="11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26280" y="1280160"/>
            <a:ext cx="3429000" cy="1417320"/>
          </a:xfrm>
          <a:prstGeom prst="roundRect">
            <a:avLst/>
          </a:prstGeom>
          <a:solidFill>
            <a:srgbClr val="EEF4F3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36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 panose="020B0503020204020204" charset="-122"/>
              </a:rPr>
              <a:t>审核闭环</a:t>
            </a:r>
            <a:endParaRPr sz="17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54880" y="199339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5748B"/>
                </a:solidFill>
                <a:latin typeface="微软雅黑" panose="020B0503020204020204" charset="-122"/>
              </a:rPr>
              <a:t>草稿-待审-发布-退回完整流转，并通过通知触达用户</a:t>
            </a:r>
            <a:endParaRPr sz="11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66760" y="1280160"/>
            <a:ext cx="3429000" cy="141732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536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 panose="020B0503020204020204" charset="-122"/>
              </a:rPr>
              <a:t>AI 增强</a:t>
            </a:r>
            <a:endParaRPr sz="17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5360" y="199339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5748B"/>
                </a:solidFill>
                <a:latin typeface="微软雅黑" panose="020B0503020204020204" charset="-122"/>
              </a:rPr>
              <a:t>DeepSeek 接入、AI 审核、AI 推荐、后台 RAG 问答</a:t>
            </a:r>
            <a:endParaRPr sz="11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5800" y="3200400"/>
            <a:ext cx="3429000" cy="1417320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564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 panose="020B0503020204020204" charset="-122"/>
              </a:rPr>
              <a:t>数据库治理</a:t>
            </a:r>
            <a:endParaRPr sz="17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5748B"/>
                </a:solidFill>
                <a:latin typeface="微软雅黑" panose="020B0503020204020204" charset="-122"/>
              </a:rPr>
              <a:t>Supabase 表结构修复、RLS 开启、标准用户维护</a:t>
            </a:r>
            <a:endParaRPr sz="11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26280" y="3200400"/>
            <a:ext cx="3429000" cy="1417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4564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 panose="020B0503020204020204" charset="-122"/>
              </a:rPr>
              <a:t>上传能力</a:t>
            </a:r>
            <a:endParaRPr sz="17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54880" y="391363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5748B"/>
                </a:solidFill>
                <a:latin typeface="微软雅黑" panose="020B0503020204020204" charset="-122"/>
              </a:rPr>
              <a:t>文章封面与头像上传，详情页和后台弹窗可展示图片</a:t>
            </a:r>
            <a:endParaRPr sz="11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366760" y="3200400"/>
            <a:ext cx="342900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34564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微软雅黑" panose="020B0503020204020204" charset="-122"/>
              </a:rPr>
              <a:t>管理安全</a:t>
            </a:r>
            <a:endParaRPr sz="17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95360" y="391363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65748B"/>
                </a:solidFill>
                <a:latin typeface="微软雅黑" panose="020B0503020204020204" charset="-122"/>
              </a:rPr>
              <a:t>危险操作确认弹窗，AI 只读建议，管理员最终确认</a:t>
            </a:r>
            <a:endParaRPr sz="11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测试、部署与安全思考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项目从本地原型到上线仍需要持续完善工程保障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21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4526279" y="1234440"/>
            <a:ext cx="3520440" cy="4343400"/>
          </a:xfrm>
          <a:prstGeom prst="roundRect">
            <a:avLst/>
          </a:prstGeom>
          <a:solidFill>
            <a:srgbClr val="EEF4F3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4800599" y="15727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上线关注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4800599" y="2011680"/>
            <a:ext cx="2926080" cy="182880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上传文件建议迁移到 Supabase Storage。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AI key 和数据库连接只保存在后端环境变量。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后台管理权限不能暴露给小程序 AI。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RLS 与服务端鉴权要持续保持一致。</a:t>
            </a:r>
          </a:p>
        </p:txBody>
      </p:sp>
      <p:sp>
        <p:nvSpPr>
          <p:cNvPr id="13" name="Rounded Rectangle 12"/>
          <p:cNvSpPr/>
          <p:nvPr>
            <p:custDataLst>
              <p:tags r:id="rId4"/>
            </p:custDataLst>
          </p:nvPr>
        </p:nvSpPr>
        <p:spPr>
          <a:xfrm>
            <a:off x="8275319" y="1234440"/>
            <a:ext cx="3520440" cy="43434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8549639" y="15727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后续优化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8549639" y="2011680"/>
            <a:ext cx="2926080" cy="182880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完善更多自动化测试。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AI 对话记录改为数据库持久化。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补充内容举报与风控。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优化小程序端无障碍和性能。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6"/>
          <p:cNvSpPr/>
          <p:nvPr/>
        </p:nvSpPr>
        <p:spPr>
          <a:xfrm>
            <a:off x="729615" y="1234440"/>
            <a:ext cx="3522345" cy="434467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7"/>
            </p:custDataLst>
          </p:nvPr>
        </p:nvSpPr>
        <p:spPr>
          <a:xfrm>
            <a:off x="1051560" y="2011680"/>
            <a:ext cx="2926080" cy="182880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TypeScript 类型检查通过。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小程序关键 JS 语法检查通过。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数据库修复脚本已验证。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项目已推送 GitHub 备份。</a:t>
            </a:r>
          </a:p>
        </p:txBody>
      </p:sp>
      <p:sp>
        <p:nvSpPr>
          <p:cNvPr id="8" name="TextBox 7"/>
          <p:cNvSpPr txBox="1"/>
          <p:nvPr>
            <p:custDataLst>
              <p:tags r:id="rId8"/>
            </p:custDataLst>
          </p:nvPr>
        </p:nvSpPr>
        <p:spPr>
          <a:xfrm>
            <a:off x="1051560" y="15727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F5D62"/>
                </a:solidFill>
                <a:latin typeface="微软雅黑" panose="020B0503020204020204" charset="-122"/>
              </a:rPr>
              <a:t>已验证</a:t>
            </a:r>
            <a:endParaRPr sz="18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3EC"/>
          </a:solidFill>
          <a:ln>
            <a:solidFill>
              <a:srgbClr val="F6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F5D62"/>
          </a:solidFill>
          <a:ln>
            <a:solidFill>
              <a:srgbClr val="2F5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微软雅黑" panose="020B0503020204020204" charset="-122"/>
              </a:rPr>
              <a:t>总结</a:t>
            </a:r>
            <a:endParaRPr sz="28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5748B"/>
                </a:solidFill>
                <a:latin typeface="微软雅黑" panose="020B0503020204020204" charset="-122"/>
              </a:rPr>
              <a:t>Vitex 完成了从用户创作到后台审核再到 AI 辅助治理的完整闭环</a:t>
            </a:r>
            <a:endParaRPr sz="125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1">
                <a:solidFill>
                  <a:srgbClr val="2F5D62"/>
                </a:solidFill>
                <a:latin typeface="微软雅黑" panose="020B0503020204020204" charset="-122"/>
              </a:rPr>
              <a:t>22</a:t>
            </a:r>
            <a:endParaRPr sz="13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10287000" cy="22167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737360"/>
            <a:ext cx="9418320" cy="2103120"/>
          </a:xfrm>
          <a:prstGeom prst="rect">
            <a:avLst/>
          </a:prstGeom>
          <a:noFill/>
        </p:spPr>
        <p:txBody>
          <a:bodyPr wrap="square" lIns="76200" tIns="25400" rIns="76200" bIns="2540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实现了小程序端文章浏览、发布、草稿、收藏、历史、评论、消息和通知功能。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后台管理端实现了管理员登录、审核、文章治理、评论删除、用户管理和 AI 对话。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数据库层围绕 Supabase 做了表结构、RLS、安全账号和用户信息一致性维护。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• AI 能力以“辅助建议”和“只读 RAG”为边界，增强体验并避免越权风险。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91305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2F5D62"/>
                </a:solidFill>
                <a:latin typeface="微软雅黑" panose="020B0503020204020204" charset="-122"/>
              </a:rPr>
              <a:t>谢谢观看</a:t>
            </a:r>
            <a:endParaRPr sz="3200" b="1">
              <a:solidFill>
                <a:srgbClr val="2F5D6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996815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15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9E1DF"/>
          </a:solidFill>
          <a:ln>
            <a:solidFill>
              <a:srgbClr val="D9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Vitex 微信小程序社区项目演示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0880" y="6528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微软雅黑" panose="020B0503020204020204" charset="-122"/>
              </a:rPr>
              <a:t>25软工专升本4班 · 25215150419 · 李家进</a:t>
            </a:r>
            <a:endParaRPr sz="900" b="0">
              <a:solidFill>
                <a:srgbClr val="65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2.8,&quot;left&quot;:57.6,&quot;top&quot;:111.6,&quot;width&quot;:838.7999212598424}"/>
</p:tagLst>
</file>

<file path=ppt/tags/tag2.xml><?xml version="1.0" encoding="utf-8"?>
<p:tagLst xmlns:p="http://schemas.openxmlformats.org/presentationml/2006/main">
  <p:tag name="KSO_WM_DIAGRAM_VIRTUALLY_FRAME" val="{&quot;height&quot;:262.8,&quot;left&quot;:57.6,&quot;top&quot;:111.6,&quot;width&quot;:838.7999212598424}"/>
</p:tagLst>
</file>

<file path=ppt/tags/tag3.xml><?xml version="1.0" encoding="utf-8"?>
<p:tagLst xmlns:p="http://schemas.openxmlformats.org/presentationml/2006/main">
  <p:tag name="KSO_WM_DIAGRAM_VIRTUALLY_FRAME" val="{&quot;height&quot;:262.8,&quot;left&quot;:57.6,&quot;top&quot;:111.6,&quot;width&quot;:838.7999212598424}"/>
</p:tagLst>
</file>

<file path=ppt/tags/tag4.xml><?xml version="1.0" encoding="utf-8"?>
<p:tagLst xmlns:p="http://schemas.openxmlformats.org/presentationml/2006/main">
  <p:tag name="KSO_WM_DIAGRAM_VIRTUALLY_FRAME" val="{&quot;height&quot;:262.8,&quot;left&quot;:57.6,&quot;top&quot;:111.6,&quot;width&quot;:838.7999212598424}"/>
</p:tagLst>
</file>

<file path=ppt/tags/tag5.xml><?xml version="1.0" encoding="utf-8"?>
<p:tagLst xmlns:p="http://schemas.openxmlformats.org/presentationml/2006/main">
  <p:tag name="KSO_WM_DIAGRAM_VIRTUALLY_FRAME" val="{&quot;height&quot;:262.8,&quot;left&quot;:57.6,&quot;top&quot;:111.6,&quot;width&quot;:838.7999212598424}"/>
</p:tagLst>
</file>

<file path=ppt/tags/tag6.xml><?xml version="1.0" encoding="utf-8"?>
<p:tagLst xmlns:p="http://schemas.openxmlformats.org/presentationml/2006/main">
  <p:tag name="KSO_WM_DIAGRAM_VIRTUALLY_FRAME" val="{&quot;height&quot;:262.8,&quot;left&quot;:57.6,&quot;top&quot;:111.6,&quot;width&quot;:838.7999212598424}"/>
</p:tagLst>
</file>

<file path=ppt/tags/tag7.xml><?xml version="1.0" encoding="utf-8"?>
<p:tagLst xmlns:p="http://schemas.openxmlformats.org/presentationml/2006/main">
  <p:tag name="KSO_WM_DIAGRAM_VIRTUALLY_FRAME" val="{&quot;height&quot;:262.8,&quot;left&quot;:57.6,&quot;top&quot;:111.6,&quot;width&quot;:838.7999212598424}"/>
</p:tagLst>
</file>

<file path=ppt/tags/tag8.xml><?xml version="1.0" encoding="utf-8"?>
<p:tagLst xmlns:p="http://schemas.openxmlformats.org/presentationml/2006/main">
  <p:tag name="KSO_WM_DIAGRAM_VIRTUALLY_FRAME" val="{&quot;height&quot;:262.8,&quot;left&quot;:57.6,&quot;top&quot;:111.6,&quot;width&quot;:838.7999212598424}"/>
</p:tagLst>
</file>

<file path=ppt/tags/tag9.xml><?xml version="1.0" encoding="utf-8"?>
<p:tagLst xmlns:p="http://schemas.openxmlformats.org/presentationml/2006/main">
  <p:tag name="KSO_WM_DIAGRAM_VIRTUALLY_FRAME" val="{&quot;height&quot;:262.8,&quot;left&quot;:57.6,&quot;top&quot;:111.6,&quot;width&quot;:838.7999212598424}"/>
</p:tagLst>
</file>

<file path=ppt/tags/tag10.xml><?xml version="1.0" encoding="utf-8"?>
<p:tagLst xmlns:p="http://schemas.openxmlformats.org/presentationml/2006/main">
  <p:tag name="KSO_WM_DIAGRAM_VIRTUALLY_FRAME" val="{&quot;height&quot;:262.8,&quot;left&quot;:57.6,&quot;top&quot;:111.6,&quot;width&quot;:838.7999212598424}"/>
</p:tagLst>
</file>

<file path=ppt/tags/tag11.xml><?xml version="1.0" encoding="utf-8"?>
<p:tagLst xmlns:p="http://schemas.openxmlformats.org/presentationml/2006/main">
  <p:tag name="KSO_WM_DIAGRAM_VIRTUALLY_FRAME" val="{&quot;height&quot;:262.8,&quot;left&quot;:57.6,&quot;top&quot;:111.6,&quot;width&quot;:838.7999212598424}"/>
</p:tagLst>
</file>

<file path=ppt/tags/tag12.xml><?xml version="1.0" encoding="utf-8"?>
<p:tagLst xmlns:p="http://schemas.openxmlformats.org/presentationml/2006/main">
  <p:tag name="KSO_WM_DIAGRAM_VIRTUALLY_FRAME" val="{&quot;height&quot;:262.8,&quot;left&quot;:57.6,&quot;top&quot;:111.6,&quot;width&quot;:838.7999212598424}"/>
</p:tagLst>
</file>

<file path=ppt/tags/tag13.xml><?xml version="1.0" encoding="utf-8"?>
<p:tagLst xmlns:p="http://schemas.openxmlformats.org/presentationml/2006/main">
  <p:tag name="KSO_WM_DIAGRAM_VIRTUALLY_FRAME" val="{&quot;height&quot;:181.4,&quot;left&quot;:54,&quot;top&quot;:97.2,&quot;width&quot;:799.2}"/>
</p:tagLst>
</file>

<file path=ppt/tags/tag14.xml><?xml version="1.0" encoding="utf-8"?>
<p:tagLst xmlns:p="http://schemas.openxmlformats.org/presentationml/2006/main">
  <p:tag name="KSO_WM_DIAGRAM_VIRTUALLY_FRAME" val="{&quot;height&quot;:181.4,&quot;left&quot;:54,&quot;top&quot;:97.2,&quot;width&quot;:799.2}"/>
</p:tagLst>
</file>

<file path=ppt/tags/tag15.xml><?xml version="1.0" encoding="utf-8"?>
<p:tagLst xmlns:p="http://schemas.openxmlformats.org/presentationml/2006/main">
  <p:tag name="KSO_WM_DIAGRAM_VIRTUALLY_FRAME" val="{&quot;height&quot;:181.4,&quot;left&quot;:54,&quot;top&quot;:97.2,&quot;width&quot;:799.2}"/>
</p:tagLst>
</file>

<file path=ppt/tags/tag16.xml><?xml version="1.0" encoding="utf-8"?>
<p:tagLst xmlns:p="http://schemas.openxmlformats.org/presentationml/2006/main">
  <p:tag name="KSO_WM_DIAGRAM_VIRTUALLY_FRAME" val="{&quot;height&quot;:181.4,&quot;left&quot;:54,&quot;top&quot;:97.2,&quot;width&quot;:799.2}"/>
</p:tagLst>
</file>

<file path=ppt/tags/tag17.xml><?xml version="1.0" encoding="utf-8"?>
<p:tagLst xmlns:p="http://schemas.openxmlformats.org/presentationml/2006/main">
  <p:tag name="KSO_WM_DIAGRAM_VIRTUALLY_FRAME" val="{&quot;height&quot;:181.4,&quot;left&quot;:54,&quot;top&quot;:97.2,&quot;width&quot;:799.2}"/>
</p:tagLst>
</file>

<file path=ppt/tags/tag18.xml><?xml version="1.0" encoding="utf-8"?>
<p:tagLst xmlns:p="http://schemas.openxmlformats.org/presentationml/2006/main">
  <p:tag name="KSO_WM_DIAGRAM_VIRTUALLY_FRAME" val="{&quot;height&quot;:181.4,&quot;left&quot;:54,&quot;top&quot;:97.2,&quot;width&quot;:799.2}"/>
</p:tagLst>
</file>

<file path=ppt/tags/tag19.xml><?xml version="1.0" encoding="utf-8"?>
<p:tagLst xmlns:p="http://schemas.openxmlformats.org/presentationml/2006/main">
  <p:tag name="KSO_WM_DIAGRAM_VIRTUALLY_FRAME" val="{&quot;height&quot;:181.4,&quot;left&quot;:54,&quot;top&quot;:97.2,&quot;width&quot;:799.2}"/>
</p:tagLst>
</file>

<file path=ppt/tags/tag20.xml><?xml version="1.0" encoding="utf-8"?>
<p:tagLst xmlns:p="http://schemas.openxmlformats.org/presentationml/2006/main">
  <p:tag name="KSO_WM_DIAGRAM_VIRTUALLY_FRAME" val="{&quot;height&quot;:181.4,&quot;left&quot;:54,&quot;top&quot;:97.2,&quot;width&quot;:799.2}"/>
</p:tagLst>
</file>

<file path=ppt/tags/tag21.xml><?xml version="1.0" encoding="utf-8"?>
<p:tagLst xmlns:p="http://schemas.openxmlformats.org/presentationml/2006/main">
  <p:tag name="KSO_WM_DIAGRAM_VIRTUALLY_FRAME" val="{&quot;height&quot;:181.4,&quot;left&quot;:54,&quot;top&quot;:97.2,&quot;width&quot;:799.2}"/>
</p:tagLst>
</file>

<file path=ppt/tags/tag22.xml><?xml version="1.0" encoding="utf-8"?>
<p:tagLst xmlns:p="http://schemas.openxmlformats.org/presentationml/2006/main">
  <p:tag name="KSO_WM_DIAGRAM_VIRTUALLY_FRAME" val="{&quot;height&quot;:181.4,&quot;left&quot;:54,&quot;top&quot;:97.2,&quot;width&quot;:799.2}"/>
</p:tagLst>
</file>

<file path=ppt/tags/tag23.xml><?xml version="1.0" encoding="utf-8"?>
<p:tagLst xmlns:p="http://schemas.openxmlformats.org/presentationml/2006/main">
  <p:tag name="KSO_WM_DIAGRAM_VIRTUALLY_FRAME" val="{&quot;height&quot;:181.4,&quot;left&quot;:54,&quot;top&quot;:97.2,&quot;width&quot;:799.2}"/>
</p:tagLst>
</file>

<file path=ppt/tags/tag24.xml><?xml version="1.0" encoding="utf-8"?>
<p:tagLst xmlns:p="http://schemas.openxmlformats.org/presentationml/2006/main">
  <p:tag name="KSO_WM_DIAGRAM_VIRTUALLY_FRAME" val="{&quot;height&quot;:181.4,&quot;left&quot;:54,&quot;top&quot;:97.2,&quot;width&quot;:799.2}"/>
</p:tagLst>
</file>

<file path=ppt/tags/tag25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26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27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28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29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30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31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32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33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34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35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36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37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38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39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40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41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42.xml><?xml version="1.0" encoding="utf-8"?>
<p:tagLst xmlns:p="http://schemas.openxmlformats.org/presentationml/2006/main">
  <p:tag name="KSO_WM_DIAGRAM_VIRTUALLY_FRAME" val="{&quot;height&quot;:252,&quot;left&quot;:50.4,&quot;top&quot;:104.4,&quot;width&quot;:871.2}"/>
</p:tagLst>
</file>

<file path=ppt/tags/tag43.xml><?xml version="1.0" encoding="utf-8"?>
<p:tagLst xmlns:p="http://schemas.openxmlformats.org/presentationml/2006/main">
  <p:tag name="KSO_WM_DIAGRAM_VIRTUALLY_FRAME" val="{&quot;height&quot;:342,&quot;left&quot;:61.2,&quot;top&quot;:97.2,&quot;width&quot;:867.5999212598424}"/>
</p:tagLst>
</file>

<file path=ppt/tags/tag44.xml><?xml version="1.0" encoding="utf-8"?>
<p:tagLst xmlns:p="http://schemas.openxmlformats.org/presentationml/2006/main">
  <p:tag name="KSO_WM_DIAGRAM_VIRTUALLY_FRAME" val="{&quot;height&quot;:342,&quot;left&quot;:61.2,&quot;top&quot;:97.2,&quot;width&quot;:867.5999212598424}"/>
</p:tagLst>
</file>

<file path=ppt/tags/tag45.xml><?xml version="1.0" encoding="utf-8"?>
<p:tagLst xmlns:p="http://schemas.openxmlformats.org/presentationml/2006/main">
  <p:tag name="KSO_WM_DIAGRAM_VIRTUALLY_FRAME" val="{&quot;height&quot;:342,&quot;left&quot;:61.2,&quot;top&quot;:97.2,&quot;width&quot;:867.5999212598424}"/>
</p:tagLst>
</file>

<file path=ppt/tags/tag46.xml><?xml version="1.0" encoding="utf-8"?>
<p:tagLst xmlns:p="http://schemas.openxmlformats.org/presentationml/2006/main">
  <p:tag name="KSO_WM_DIAGRAM_VIRTUALLY_FRAME" val="{&quot;height&quot;:342,&quot;left&quot;:61.2,&quot;top&quot;:97.2,&quot;width&quot;:867.5999212598424}"/>
</p:tagLst>
</file>

<file path=ppt/tags/tag47.xml><?xml version="1.0" encoding="utf-8"?>
<p:tagLst xmlns:p="http://schemas.openxmlformats.org/presentationml/2006/main">
  <p:tag name="KSO_WM_DIAGRAM_VIRTUALLY_FRAME" val="{&quot;height&quot;:342,&quot;left&quot;:61.2,&quot;top&quot;:97.2,&quot;width&quot;:867.5999212598424}"/>
</p:tagLst>
</file>

<file path=ppt/tags/tag48.xml><?xml version="1.0" encoding="utf-8"?>
<p:tagLst xmlns:p="http://schemas.openxmlformats.org/presentationml/2006/main">
  <p:tag name="KSO_WM_DIAGRAM_VIRTUALLY_FRAME" val="{&quot;height&quot;:342,&quot;left&quot;:61.2,&quot;top&quot;:97.2,&quot;width&quot;:867.5999212598424}"/>
</p:tagLst>
</file>

<file path=ppt/tags/tag49.xml><?xml version="1.0" encoding="utf-8"?>
<p:tagLst xmlns:p="http://schemas.openxmlformats.org/presentationml/2006/main">
  <p:tag name="KSO_WM_DIAGRAM_VIRTUALLY_FRAME" val="{&quot;height&quot;:342,&quot;left&quot;:61.2,&quot;top&quot;:97.2,&quot;width&quot;:867.5999212598424}"/>
</p:tagLst>
</file>

<file path=ppt/tags/tag50.xml><?xml version="1.0" encoding="utf-8"?>
<p:tagLst xmlns:p="http://schemas.openxmlformats.org/presentationml/2006/main">
  <p:tag name="KSO_WM_DIAGRAM_VIRTUALLY_FRAME" val="{&quot;height&quot;:342,&quot;left&quot;:61.2,&quot;top&quot;:97.2,&quot;width&quot;:867.59992125984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7593</Words>
  <Application>WPS 演示</Application>
  <PresentationFormat>On-screen Show (4:3)</PresentationFormat>
  <Paragraphs>636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Vitex 微信小程序社区项目设计与实现</dc:title>
  <dc:creator>李家进</dc:creator>
  <dc:description>generated using python-pptx</dc:description>
  <dc:subject>小程序项目演示 PPT</dc:subject>
  <cp:lastModifiedBy>一许流年</cp:lastModifiedBy>
  <cp:revision>35</cp:revision>
  <dcterms:created xsi:type="dcterms:W3CDTF">2013-01-27T09:14:00Z</dcterms:created>
  <dcterms:modified xsi:type="dcterms:W3CDTF">2026-06-08T05:14:02Z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D0FC0EB0E7D3462A9DE161049BF255F4_12</vt:lpwstr>
  </property>
</Properties>
</file>